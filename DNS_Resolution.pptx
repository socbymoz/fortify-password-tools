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84" d="100"/>
          <a:sy n="84" d="100"/>
        </p:scale>
        <p:origin x="725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-1216152" y="548640"/>
            <a:ext cx="10058400" cy="8617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000" b="1">
                <a:solidFill>
                  <a:srgbClr val="FFFFFF"/>
                </a:solidFill>
              </a:defRPr>
            </a:pPr>
            <a:r>
              <a:rPr lang="en-IN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DNS RESOLUTION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01368" y="1997964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0">
                <a:solidFill>
                  <a:srgbClr val="00A8E8"/>
                </a:solidFill>
              </a:defRPr>
            </a:pPr>
            <a:r>
              <a:rPr dirty="0"/>
              <a:t>How the Internet Finds Its Way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-173736" y="29718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BBBBBB"/>
                </a:solidFill>
              </a:defRPr>
            </a:pPr>
            <a:r>
              <a:t>The Domain Name System — From Browser to Bytes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344" y="3904488"/>
            <a:ext cx="9418320" cy="2242891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182880"/>
            <a:ext cx="12191695" cy="502920"/>
          </a:xfrm>
          <a:prstGeom prst="rect">
            <a:avLst/>
          </a:prstGeom>
          <a:solidFill>
            <a:srgbClr val="00A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0" tIns="36576" rtlCol="0" anchor="ctr"/>
          <a:lstStyle/>
          <a:p>
            <a:pPr algn="ctr">
              <a:defRPr sz="2600" b="1">
                <a:solidFill>
                  <a:srgbClr val="FFFFFF"/>
                </a:solidFill>
              </a:defRPr>
            </a:pPr>
            <a:r>
              <a:t>What is DNS?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05840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FFFFFF"/>
                </a:solidFill>
              </a:defRPr>
            </a:pPr>
            <a:r>
              <a:t>The Domain Name System (DNS) is the phonebook of the Internet.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45920"/>
            <a:ext cx="6400800" cy="4114800"/>
          </a:xfrm>
          <a:prstGeom prst="rect">
            <a:avLst/>
          </a:prstGeom>
          <a:noFill/>
        </p:spPr>
        <p:txBody>
          <a:bodyPr wrap="square" lIns="137160">
            <a:spAutoFit/>
          </a:bodyPr>
          <a:lstStyle/>
          <a:p>
            <a:pPr>
              <a:spcAft>
                <a:spcPts val="700"/>
              </a:spcAft>
              <a:defRPr sz="1400">
                <a:solidFill>
                  <a:srgbClr val="BBBBBB"/>
                </a:solidFill>
              </a:defRPr>
            </a:pPr>
            <a:r>
              <a:t>Translates domain names (google.com) into IP addresses (142.250.190.46)</a:t>
            </a:r>
          </a:p>
          <a:p>
            <a:pPr>
              <a:spcAft>
                <a:spcPts val="700"/>
              </a:spcAft>
              <a:defRPr sz="1400">
                <a:solidFill>
                  <a:srgbClr val="BBBBBB"/>
                </a:solidFill>
              </a:defRPr>
            </a:pPr>
            <a:r>
              <a:t>Eliminates the need to memorize numeric IP addresses</a:t>
            </a:r>
          </a:p>
          <a:p>
            <a:pPr>
              <a:spcAft>
                <a:spcPts val="700"/>
              </a:spcAft>
              <a:defRPr sz="1400">
                <a:solidFill>
                  <a:srgbClr val="BBBBBB"/>
                </a:solidFill>
              </a:defRPr>
            </a:pPr>
            <a:r>
              <a:t>Distributed, hierarchical database — no single point of failure</a:t>
            </a:r>
          </a:p>
          <a:p>
            <a:pPr>
              <a:spcAft>
                <a:spcPts val="700"/>
              </a:spcAft>
              <a:defRPr sz="1400">
                <a:solidFill>
                  <a:srgbClr val="BBBBBB"/>
                </a:solidFill>
              </a:defRPr>
            </a:pPr>
            <a:r>
              <a:t>One of the oldest and most critical components of modern networking</a:t>
            </a:r>
          </a:p>
          <a:p>
            <a:pPr>
              <a:spcAft>
                <a:spcPts val="700"/>
              </a:spcAft>
              <a:defRPr sz="1400">
                <a:solidFill>
                  <a:srgbClr val="BBBBBB"/>
                </a:solidFill>
              </a:defRPr>
            </a:pPr>
            <a:r>
              <a:t>Primarily operates on UDP port 53 with TCP fallback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0" y="3657600"/>
            <a:ext cx="4572000" cy="1088782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182880"/>
            <a:ext cx="12191695" cy="502920"/>
          </a:xfrm>
          <a:prstGeom prst="rect">
            <a:avLst/>
          </a:prstGeom>
          <a:solidFill>
            <a:srgbClr val="00A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0" tIns="36576" rtlCol="0" anchor="ctr"/>
          <a:lstStyle/>
          <a:p>
            <a:pPr algn="ctr">
              <a:defRPr sz="2600" b="1">
                <a:solidFill>
                  <a:srgbClr val="FFFFFF"/>
                </a:solidFill>
              </a:defRPr>
            </a:pPr>
            <a:r>
              <a:t>Why DNS Matters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365760" y="1097280"/>
            <a:ext cx="5577840" cy="594360"/>
          </a:xfrm>
          <a:prstGeom prst="roundRect">
            <a:avLst/>
          </a:prstGeom>
          <a:solidFill>
            <a:srgbClr val="2A2A3E"/>
          </a:solidFill>
          <a:ln w="25400">
            <a:solidFill>
              <a:srgbClr val="00A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73152" rtlCol="0" anchor="ctr"/>
          <a:lstStyle/>
          <a:p>
            <a:pPr algn="ctr">
              <a:defRPr sz="1400" b="0">
                <a:solidFill>
                  <a:srgbClr val="BBBBBB"/>
                </a:solidFill>
              </a:defRPr>
            </a:pPr>
            <a:r>
              <a:t>User Experience  —  Names are easier to remember than numbers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217920" y="1097280"/>
            <a:ext cx="5577840" cy="594360"/>
          </a:xfrm>
          <a:prstGeom prst="roundRect">
            <a:avLst/>
          </a:prstGeom>
          <a:solidFill>
            <a:srgbClr val="2A2A3E"/>
          </a:solidFill>
          <a:ln w="25400">
            <a:solidFill>
              <a:srgbClr val="4CAF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73152" rtlCol="0" anchor="ctr"/>
          <a:lstStyle/>
          <a:p>
            <a:pPr algn="ctr">
              <a:defRPr sz="1400" b="0">
                <a:solidFill>
                  <a:srgbClr val="BBBBBB"/>
                </a:solidFill>
              </a:defRPr>
            </a:pPr>
            <a:r>
              <a:t>Performance  —  Caching at every level reduces lookup latency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" y="1810512"/>
            <a:ext cx="5577840" cy="594360"/>
          </a:xfrm>
          <a:prstGeom prst="roundRect">
            <a:avLst/>
          </a:prstGeom>
          <a:solidFill>
            <a:srgbClr val="2A2A3E"/>
          </a:solidFill>
          <a:ln w="25400">
            <a:solidFill>
              <a:srgbClr val="FF9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73152" rtlCol="0" anchor="ctr"/>
          <a:lstStyle/>
          <a:p>
            <a:pPr algn="ctr">
              <a:defRPr sz="1400" b="0">
                <a:solidFill>
                  <a:srgbClr val="BBBBBB"/>
                </a:solidFill>
              </a:defRPr>
            </a:pPr>
            <a:r>
              <a:t>Security  —  DNSSEC, DNS-over-HTTPS, DNS-over-TLS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810512"/>
            <a:ext cx="5577840" cy="594360"/>
          </a:xfrm>
          <a:prstGeom prst="roundRect">
            <a:avLst/>
          </a:prstGeom>
          <a:solidFill>
            <a:srgbClr val="2A2A3E"/>
          </a:solidFill>
          <a:ln w="25400">
            <a:solidFill>
              <a:srgbClr val="FFD7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73152" rtlCol="0" anchor="ctr"/>
          <a:lstStyle/>
          <a:p>
            <a:pPr algn="ctr">
              <a:defRPr sz="1400" b="0">
                <a:solidFill>
                  <a:srgbClr val="BBBBBB"/>
                </a:solidFill>
              </a:defRPr>
            </a:pPr>
            <a:r>
              <a:t>Load Balancing  —  Round-robin DNS distributes traffic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5760" y="2523744"/>
            <a:ext cx="5577840" cy="594360"/>
          </a:xfrm>
          <a:prstGeom prst="roundRect">
            <a:avLst/>
          </a:prstGeom>
          <a:solidFill>
            <a:srgbClr val="2A2A3E"/>
          </a:solidFill>
          <a:ln w="25400">
            <a:solidFill>
              <a:srgbClr val="F443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73152" rtlCol="0" anchor="ctr"/>
          <a:lstStyle/>
          <a:p>
            <a:pPr algn="ctr">
              <a:defRPr sz="1400" b="0">
                <a:solidFill>
                  <a:srgbClr val="BBBBBB"/>
                </a:solidFill>
              </a:defRPr>
            </a:pPr>
            <a:r>
              <a:t>Filtering  —  Block malicious domains at the resolver level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2523744"/>
            <a:ext cx="5577840" cy="594360"/>
          </a:xfrm>
          <a:prstGeom prst="roundRect">
            <a:avLst/>
          </a:prstGeom>
          <a:solidFill>
            <a:srgbClr val="2A2A3E"/>
          </a:solidFill>
          <a:ln w="25400">
            <a:solidFill>
              <a:srgbClr val="4CAF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73152" rtlCol="0" anchor="ctr"/>
          <a:lstStyle/>
          <a:p>
            <a:pPr algn="ctr">
              <a:defRPr sz="1400" b="0">
                <a:solidFill>
                  <a:srgbClr val="BBBBBB"/>
                </a:solidFill>
              </a:defRPr>
            </a:pPr>
            <a:r>
              <a:t>Service Discovery  —  SRV records locate services automatically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65760" y="3236976"/>
            <a:ext cx="5577840" cy="594360"/>
          </a:xfrm>
          <a:prstGeom prst="roundRect">
            <a:avLst/>
          </a:prstGeom>
          <a:solidFill>
            <a:srgbClr val="2A2A3E"/>
          </a:solidFill>
          <a:ln w="25400">
            <a:solidFill>
              <a:srgbClr val="00A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73152" rtlCol="0" anchor="ctr"/>
          <a:lstStyle/>
          <a:p>
            <a:pPr algn="ctr">
              <a:defRPr sz="1400" b="0">
                <a:solidFill>
                  <a:srgbClr val="BBBBBB"/>
                </a:solidFill>
              </a:defRPr>
            </a:pPr>
            <a:r>
              <a:t>Resilience  —  Anycast routing with redundant nameservers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182880"/>
            <a:ext cx="12191695" cy="502920"/>
          </a:xfrm>
          <a:prstGeom prst="rect">
            <a:avLst/>
          </a:prstGeom>
          <a:solidFill>
            <a:srgbClr val="00A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0" tIns="36576" rtlCol="0" anchor="ctr"/>
          <a:lstStyle/>
          <a:p>
            <a:pPr algn="ctr">
              <a:defRPr sz="2600" b="1">
                <a:solidFill>
                  <a:srgbClr val="FFFFFF"/>
                </a:solidFill>
              </a:defRPr>
            </a:pPr>
            <a:r>
              <a:t>DNS Resolution — Full Pipeline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914400"/>
            <a:ext cx="11795760" cy="4205828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182880"/>
            <a:ext cx="12191695" cy="502920"/>
          </a:xfrm>
          <a:prstGeom prst="rect">
            <a:avLst/>
          </a:prstGeom>
          <a:solidFill>
            <a:srgbClr val="00A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0" tIns="36576" rtlCol="0" anchor="ctr"/>
          <a:lstStyle/>
          <a:p>
            <a:pPr algn="ctr">
              <a:defRPr sz="2600" b="1">
                <a:solidFill>
                  <a:srgbClr val="FFFFFF"/>
                </a:solidFill>
              </a:defRPr>
            </a:pPr>
            <a:r>
              <a:t>Step 1: Browser DNS Cache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400800" y="1005840"/>
            <a:ext cx="5303520" cy="2743200"/>
          </a:xfrm>
          <a:prstGeom prst="roundRect">
            <a:avLst/>
          </a:prstGeom>
          <a:solidFill>
            <a:srgbClr val="2A2A3E"/>
          </a:solidFill>
          <a:ln w="25400">
            <a:solidFill>
              <a:srgbClr val="00A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73152" rtlCol="0" anchor="ctr"/>
          <a:lstStyle/>
          <a:p>
            <a:pPr algn="ctr">
              <a:defRPr sz="1500" b="1">
                <a:solidFill>
                  <a:srgbClr val="FFD700"/>
                </a:solidFill>
              </a:defRPr>
            </a:pPr>
            <a:r>
              <a:t>Example Cache Entries:</a:t>
            </a:r>
          </a:p>
          <a:p>
            <a:pPr>
              <a:spcBef>
                <a:spcPts val="400"/>
              </a:spcBef>
              <a:defRPr sz="1300">
                <a:solidFill>
                  <a:srgbClr val="FFFFFF"/>
                </a:solidFill>
              </a:defRPr>
            </a:pPr>
            <a:r>
              <a:t>  google.com  →  142.250.190.46</a:t>
            </a:r>
          </a:p>
          <a:p>
            <a:pPr>
              <a:spcBef>
                <a:spcPts val="400"/>
              </a:spcBef>
              <a:defRPr sz="1300">
                <a:solidFill>
                  <a:srgbClr val="FFFFFF"/>
                </a:solidFill>
              </a:defRPr>
            </a:pPr>
            <a:r>
              <a:t>  github.com  →  140.82.121.3</a:t>
            </a:r>
          </a:p>
          <a:p>
            <a:pPr>
              <a:spcBef>
                <a:spcPts val="400"/>
              </a:spcBef>
              <a:defRPr sz="1300">
                <a:solidFill>
                  <a:srgbClr val="FFFFFF"/>
                </a:solidFill>
              </a:defRPr>
            </a:pPr>
            <a:r>
              <a:t>  stackoverflow.com  →  151.101.1.69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05840"/>
            <a:ext cx="5486400" cy="2743200"/>
          </a:xfrm>
          <a:prstGeom prst="rect">
            <a:avLst/>
          </a:prstGeom>
          <a:noFill/>
        </p:spPr>
        <p:txBody>
          <a:bodyPr wrap="square" lIns="137160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BBBBBB"/>
                </a:solidFill>
              </a:defRPr>
            </a:pPr>
            <a:r>
              <a:t>Before any request, the browser checks its in-memory cache</a:t>
            </a:r>
          </a:p>
          <a:p>
            <a:pPr>
              <a:spcAft>
                <a:spcPts val="600"/>
              </a:spcAft>
              <a:defRPr sz="1400">
                <a:solidFill>
                  <a:srgbClr val="BBBBBB"/>
                </a:solidFill>
              </a:defRPr>
            </a:pPr>
            <a:r>
              <a:t>Cache lifetime controlled by the record's TTL (Time-To-Live)</a:t>
            </a:r>
          </a:p>
          <a:p>
            <a:pPr>
              <a:spcAft>
                <a:spcPts val="600"/>
              </a:spcAft>
              <a:defRPr sz="1400">
                <a:solidFill>
                  <a:srgbClr val="BBBBBB"/>
                </a:solidFill>
              </a:defRPr>
            </a:pPr>
            <a:r>
              <a:t>Typical TTLs range from 60 seconds to 24 hours</a:t>
            </a:r>
          </a:p>
          <a:p>
            <a:pPr>
              <a:spcAft>
                <a:spcPts val="600"/>
              </a:spcAft>
              <a:defRPr sz="1400">
                <a:solidFill>
                  <a:srgbClr val="BBBBBB"/>
                </a:solidFill>
              </a:defRPr>
            </a:pPr>
            <a:r>
              <a:t>Chrome:  chrome://net-internals/#dns</a:t>
            </a:r>
          </a:p>
          <a:p>
            <a:pPr>
              <a:spcAft>
                <a:spcPts val="600"/>
              </a:spcAft>
              <a:defRPr sz="1400">
                <a:solidFill>
                  <a:srgbClr val="BBBBBB"/>
                </a:solidFill>
              </a:defRPr>
            </a:pPr>
            <a:r>
              <a:t>Firefox: about:networking#dns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4389120"/>
            <a:ext cx="5303520" cy="1188720"/>
          </a:xfrm>
          <a:prstGeom prst="roundRect">
            <a:avLst/>
          </a:prstGeom>
          <a:solidFill>
            <a:srgbClr val="2A2A3E"/>
          </a:solidFill>
          <a:ln w="25400">
            <a:solidFill>
              <a:srgbClr val="4CAF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73152" rtlCol="0" anchor="ctr"/>
          <a:lstStyle/>
          <a:p>
            <a:pPr algn="ctr">
              <a:defRPr sz="1400" b="1">
                <a:solidFill>
                  <a:srgbClr val="4CAF50"/>
                </a:solidFill>
              </a:defRPr>
            </a:pPr>
            <a:r>
              <a:t>Found in cache?  →  Immediate sub-millisecond resolution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0" y="4389120"/>
            <a:ext cx="5303520" cy="1188720"/>
          </a:xfrm>
          <a:prstGeom prst="roundRect">
            <a:avLst/>
          </a:prstGeom>
          <a:solidFill>
            <a:srgbClr val="2A2A3E"/>
          </a:solidFill>
          <a:ln w="25400">
            <a:solidFill>
              <a:srgbClr val="F443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73152" rtlCol="0" anchor="ctr"/>
          <a:lstStyle/>
          <a:p>
            <a:pPr algn="ctr">
              <a:defRPr sz="1400" b="1">
                <a:solidFill>
                  <a:srgbClr val="F44336"/>
                </a:solidFill>
              </a:defRPr>
            </a:pPr>
            <a:r>
              <a:t>Not found?  →  Query moves to the OS resolver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182880"/>
            <a:ext cx="12191695" cy="502920"/>
          </a:xfrm>
          <a:prstGeom prst="rect">
            <a:avLst/>
          </a:prstGeom>
          <a:solidFill>
            <a:srgbClr val="00A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0" tIns="36576" rtlCol="0" anchor="ctr"/>
          <a:lstStyle/>
          <a:p>
            <a:pPr algn="ctr">
              <a:defRPr sz="2600" b="1">
                <a:solidFill>
                  <a:srgbClr val="FFFFFF"/>
                </a:solidFill>
              </a:defRPr>
            </a:pPr>
            <a:r>
              <a:t>Step 2: Operating System &amp; Hosts File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05840"/>
            <a:ext cx="5943600" cy="1645920"/>
          </a:xfrm>
          <a:prstGeom prst="rect">
            <a:avLst/>
          </a:prstGeom>
          <a:noFill/>
        </p:spPr>
        <p:txBody>
          <a:bodyPr wrap="square" lIns="137160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BBBBBB"/>
                </a:solidFill>
              </a:defRPr>
            </a:pPr>
            <a:r>
              <a:t>If browser cache misses, the OS resolver is queried</a:t>
            </a:r>
          </a:p>
          <a:p>
            <a:pPr>
              <a:spcAft>
                <a:spcPts val="600"/>
              </a:spcAft>
              <a:defRPr sz="1400">
                <a:solidFill>
                  <a:srgbClr val="BBBBBB"/>
                </a:solidFill>
              </a:defRPr>
            </a:pPr>
            <a:r>
              <a:t>The OS maintains its own DNS cache via the system resolver</a:t>
            </a:r>
          </a:p>
          <a:p>
            <a:pPr>
              <a:spcAft>
                <a:spcPts val="600"/>
              </a:spcAft>
              <a:defRPr sz="1400">
                <a:solidFill>
                  <a:srgbClr val="BBBBBB"/>
                </a:solidFill>
              </a:defRPr>
            </a:pPr>
            <a:r>
              <a:t>Before the cache, the system checks the static hosts file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3017520"/>
            <a:ext cx="5303520" cy="2560320"/>
          </a:xfrm>
          <a:prstGeom prst="roundRect">
            <a:avLst/>
          </a:prstGeom>
          <a:solidFill>
            <a:srgbClr val="2A2A3E"/>
          </a:solidFill>
          <a:ln w="25400">
            <a:solidFill>
              <a:srgbClr val="00A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73152" rtlCol="0" anchor="ctr"/>
          <a:lstStyle/>
          <a:p>
            <a:pPr algn="ctr">
              <a:defRPr sz="1500" b="1">
                <a:solidFill>
                  <a:srgbClr val="00A8E8"/>
                </a:solidFill>
              </a:defRPr>
            </a:pPr>
            <a:r>
              <a:t>OS Resolver — System-level DNS cache</a:t>
            </a:r>
          </a:p>
          <a:p>
            <a:pPr>
              <a:defRPr sz="1200">
                <a:solidFill>
                  <a:srgbClr val="BBBBBB"/>
                </a:solidFill>
              </a:defRPr>
            </a:pPr>
            <a:r>
              <a:t>View cache:  ipconfig /displaydns (Windows)</a:t>
            </a:r>
          </a:p>
          <a:p>
            <a:pPr>
              <a:defRPr sz="1200">
                <a:solidFill>
                  <a:srgbClr val="BBBBBB"/>
                </a:solidFill>
              </a:defRPr>
            </a:pPr>
            <a:r>
              <a:t>Flush cache:  ipconfig /flushdns (Windows)</a:t>
            </a:r>
          </a:p>
          <a:p>
            <a:pPr>
              <a:defRPr sz="1200">
                <a:solidFill>
                  <a:srgbClr val="BBBBBB"/>
                </a:solidFill>
              </a:defRPr>
            </a:pPr>
            <a:r>
              <a:t>Linux/macOS:  sudo killall -USR1 mDNSResponder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0" y="3017520"/>
            <a:ext cx="5303520" cy="2560320"/>
          </a:xfrm>
          <a:prstGeom prst="roundRect">
            <a:avLst/>
          </a:prstGeom>
          <a:solidFill>
            <a:srgbClr val="2A2A3E"/>
          </a:solidFill>
          <a:ln w="25400">
            <a:solidFill>
              <a:srgbClr val="FFD7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73152" rtlCol="0" anchor="ctr"/>
          <a:lstStyle/>
          <a:p>
            <a:pPr algn="ctr">
              <a:defRPr sz="1500" b="1">
                <a:solidFill>
                  <a:srgbClr val="FFD700"/>
                </a:solidFill>
              </a:defRPr>
            </a:pPr>
            <a:r>
              <a:t>Hosts File — Static IP-to-hostname mappings</a:t>
            </a:r>
          </a:p>
          <a:p>
            <a:pPr>
              <a:defRPr sz="1200">
                <a:solidFill>
                  <a:srgbClr val="FFFFFF"/>
                </a:solidFill>
              </a:defRPr>
            </a:pPr>
            <a:r>
              <a:t>Windows:  C:\Windows\System32\drivers\etc\hosts</a:t>
            </a:r>
          </a:p>
          <a:p>
            <a:pPr>
              <a:defRPr sz="1200">
                <a:solidFill>
                  <a:srgbClr val="FFFFFF"/>
                </a:solidFill>
              </a:defRPr>
            </a:pPr>
            <a:r>
              <a:t>Linux:    /etc/hosts</a:t>
            </a:r>
          </a:p>
          <a:p>
            <a:pPr>
              <a:defRPr sz="1200">
                <a:solidFill>
                  <a:srgbClr val="FFFFFF"/>
                </a:solidFill>
              </a:defRPr>
            </a:pPr>
            <a:r>
              <a:t>macOS:    /etc/hosts</a:t>
            </a:r>
          </a:p>
          <a:p>
            <a:pPr>
              <a:defRPr sz="1200">
                <a:solidFill>
                  <a:srgbClr val="BBBBBB"/>
                </a:solidFill>
              </a:defRPr>
            </a:pPr>
            <a:r>
              <a:t>Used for: dev overrides, ad blocking, security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0350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4CAF50"/>
                </a:solidFill>
              </a:defRPr>
            </a:pPr>
            <a:r>
              <a:t>No match at OS level?  →  Query forwarded to the configured DNS resolver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182880"/>
            <a:ext cx="12191695" cy="502920"/>
          </a:xfrm>
          <a:prstGeom prst="rect">
            <a:avLst/>
          </a:prstGeom>
          <a:solidFill>
            <a:srgbClr val="00A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0" tIns="36576" rtlCol="0" anchor="ctr"/>
          <a:lstStyle/>
          <a:p>
            <a:pPr algn="ctr">
              <a:defRPr sz="2600" b="1">
                <a:solidFill>
                  <a:srgbClr val="FFFFFF"/>
                </a:solidFill>
              </a:defRPr>
            </a:pPr>
            <a:r>
              <a:t>Step 3: Recursive Resolver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05840"/>
            <a:ext cx="5943600" cy="1828800"/>
          </a:xfrm>
          <a:prstGeom prst="rect">
            <a:avLst/>
          </a:prstGeom>
          <a:noFill/>
        </p:spPr>
        <p:txBody>
          <a:bodyPr wrap="square" lIns="137160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BBBBBB"/>
                </a:solidFill>
              </a:defRPr>
            </a:pPr>
            <a:r>
              <a:t>Also called the recursive DNS server or full resolver</a:t>
            </a:r>
          </a:p>
          <a:p>
            <a:pPr>
              <a:spcAft>
                <a:spcPts val="600"/>
              </a:spcAft>
              <a:defRPr sz="1400">
                <a:solidFill>
                  <a:srgbClr val="BBBBBB"/>
                </a:solidFill>
              </a:defRPr>
            </a:pPr>
            <a:r>
              <a:t>Does the heavy lifting — queries root, TLD, then authoritative</a:t>
            </a:r>
          </a:p>
          <a:p>
            <a:pPr>
              <a:spcAft>
                <a:spcPts val="600"/>
              </a:spcAft>
              <a:defRPr sz="1400">
                <a:solidFill>
                  <a:srgbClr val="BBBBBB"/>
                </a:solidFill>
              </a:defRPr>
            </a:pPr>
            <a:r>
              <a:t>Caches results to speed up future requests for all users</a:t>
            </a:r>
          </a:p>
          <a:p>
            <a:pPr>
              <a:spcAft>
                <a:spcPts val="600"/>
              </a:spcAft>
              <a:defRPr sz="1400">
                <a:solidFill>
                  <a:srgbClr val="BBBBBB"/>
                </a:solidFill>
              </a:defRPr>
            </a:pPr>
            <a:r>
              <a:t>Typically provided by your ISP or a public DNS service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3291840"/>
            <a:ext cx="2743200" cy="822960"/>
          </a:xfrm>
          <a:prstGeom prst="roundRect">
            <a:avLst/>
          </a:prstGeom>
          <a:solidFill>
            <a:srgbClr val="2A2A3E"/>
          </a:solidFill>
          <a:ln w="25400">
            <a:solidFill>
              <a:srgbClr val="4CAF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73152" rtlCol="0" anchor="ctr"/>
          <a:lstStyle/>
          <a:p>
            <a:pPr algn="ctr">
              <a:defRPr sz="1300" b="0">
                <a:solidFill>
                  <a:srgbClr val="BBBBBB"/>
                </a:solidFill>
              </a:defRPr>
            </a:pPr>
            <a:r>
              <a:t>Google Public DNS</a:t>
            </a:r>
            <a:br/>
            <a:r>
              <a:t>8.8.8.8  |  8.8.4.4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474720" y="3291840"/>
            <a:ext cx="2743200" cy="822960"/>
          </a:xfrm>
          <a:prstGeom prst="roundRect">
            <a:avLst/>
          </a:prstGeom>
          <a:solidFill>
            <a:srgbClr val="2A2A3E"/>
          </a:solidFill>
          <a:ln w="25400">
            <a:solidFill>
              <a:srgbClr val="4CAF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73152" rtlCol="0" anchor="ctr"/>
          <a:lstStyle/>
          <a:p>
            <a:pPr algn="ctr">
              <a:defRPr sz="1300" b="0">
                <a:solidFill>
                  <a:srgbClr val="BBBBBB"/>
                </a:solidFill>
              </a:defRPr>
            </a:pPr>
            <a:r>
              <a:t>Cloudflare</a:t>
            </a:r>
            <a:br/>
            <a:r>
              <a:t>1.1.1.1  |  1.0.0.1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4297680"/>
            <a:ext cx="2743200" cy="822960"/>
          </a:xfrm>
          <a:prstGeom prst="roundRect">
            <a:avLst/>
          </a:prstGeom>
          <a:solidFill>
            <a:srgbClr val="2A2A3E"/>
          </a:solidFill>
          <a:ln w="25400">
            <a:solidFill>
              <a:srgbClr val="4CAF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73152" rtlCol="0" anchor="ctr"/>
          <a:lstStyle/>
          <a:p>
            <a:pPr algn="ctr">
              <a:defRPr sz="1300" b="0">
                <a:solidFill>
                  <a:srgbClr val="BBBBBB"/>
                </a:solidFill>
              </a:defRPr>
            </a:pPr>
            <a:r>
              <a:t>Quad9</a:t>
            </a:r>
            <a:br/>
            <a:r>
              <a:t>9.9.9.9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74720" y="4297680"/>
            <a:ext cx="2743200" cy="822960"/>
          </a:xfrm>
          <a:prstGeom prst="roundRect">
            <a:avLst/>
          </a:prstGeom>
          <a:solidFill>
            <a:srgbClr val="2A2A3E"/>
          </a:solidFill>
          <a:ln w="25400">
            <a:solidFill>
              <a:srgbClr val="4CAF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73152" rtlCol="0" anchor="ctr"/>
          <a:lstStyle/>
          <a:p>
            <a:pPr algn="ctr">
              <a:defRPr sz="1300" b="0">
                <a:solidFill>
                  <a:srgbClr val="BBBBBB"/>
                </a:solidFill>
              </a:defRPr>
            </a:pPr>
            <a:r>
              <a:t>OpenDNS</a:t>
            </a:r>
            <a:br/>
            <a:r>
              <a:t>208.67.222.222  |  208.67.220.220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0" y="1005840"/>
            <a:ext cx="5303520" cy="4572000"/>
          </a:xfrm>
          <a:prstGeom prst="roundRect">
            <a:avLst/>
          </a:prstGeom>
          <a:solidFill>
            <a:srgbClr val="2A2A3E"/>
          </a:solidFill>
          <a:ln w="38100">
            <a:solidFill>
              <a:srgbClr val="00A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73152" rtlCol="0" anchor="ctr"/>
          <a:lstStyle/>
          <a:p>
            <a:pPr algn="ctr">
              <a:defRPr sz="1600" b="1">
                <a:solidFill>
                  <a:srgbClr val="00A8E8"/>
                </a:solidFill>
              </a:defRPr>
            </a:pPr>
            <a:r>
              <a:t>How It Works:</a:t>
            </a:r>
          </a:p>
          <a:p>
            <a:pPr>
              <a:spcBef>
                <a:spcPts val="300"/>
              </a:spcBef>
              <a:defRPr sz="1300">
                <a:solidFill>
                  <a:srgbClr val="FFFFFF"/>
                </a:solidFill>
              </a:defRPr>
            </a:pPr>
            <a:r>
              <a:t>1. Your device sends the query to the resolver</a:t>
            </a:r>
          </a:p>
          <a:p>
            <a:pPr>
              <a:spcBef>
                <a:spcPts val="300"/>
              </a:spcBef>
              <a:defRPr sz="1300">
                <a:solidFill>
                  <a:srgbClr val="FFFFFF"/>
                </a:solidFill>
              </a:defRPr>
            </a:pPr>
            <a:r>
              <a:t>2. Resolver checks its own cache first</a:t>
            </a:r>
          </a:p>
          <a:p>
            <a:pPr>
              <a:spcBef>
                <a:spcPts val="300"/>
              </a:spcBef>
              <a:defRPr sz="1300">
                <a:solidFill>
                  <a:srgbClr val="FFFFFF"/>
                </a:solidFill>
              </a:defRPr>
            </a:pPr>
            <a:r>
              <a:t>3. On cache miss, queries the root server</a:t>
            </a:r>
          </a:p>
          <a:p>
            <a:pPr>
              <a:spcBef>
                <a:spcPts val="300"/>
              </a:spcBef>
              <a:defRPr sz="1300">
                <a:solidFill>
                  <a:srgbClr val="FFFFFF"/>
                </a:solidFill>
              </a:defRPr>
            </a:pPr>
            <a:r>
              <a:t>4. Root returns the TLD server address</a:t>
            </a:r>
          </a:p>
          <a:p>
            <a:pPr>
              <a:spcBef>
                <a:spcPts val="300"/>
              </a:spcBef>
              <a:defRPr sz="1300">
                <a:solidFill>
                  <a:srgbClr val="FFFFFF"/>
                </a:solidFill>
              </a:defRPr>
            </a:pPr>
            <a:r>
              <a:t>5. TLD returns the authoritative server address</a:t>
            </a:r>
          </a:p>
          <a:p>
            <a:pPr>
              <a:spcBef>
                <a:spcPts val="300"/>
              </a:spcBef>
              <a:defRPr sz="1300">
                <a:solidFill>
                  <a:srgbClr val="FFFFFF"/>
                </a:solidFill>
              </a:defRPr>
            </a:pPr>
            <a:r>
              <a:t>6. Authoritative server returns the IP address</a:t>
            </a:r>
          </a:p>
          <a:p>
            <a:pPr>
              <a:spcBef>
                <a:spcPts val="300"/>
              </a:spcBef>
              <a:defRPr sz="1300">
                <a:solidFill>
                  <a:srgbClr val="FFFFFF"/>
                </a:solidFill>
              </a:defRPr>
            </a:pPr>
            <a:r>
              <a:t>7. Resolver caches the result and returns it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182880"/>
            <a:ext cx="12191695" cy="502920"/>
          </a:xfrm>
          <a:prstGeom prst="rect">
            <a:avLst/>
          </a:prstGeom>
          <a:solidFill>
            <a:srgbClr val="00A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0" tIns="36576" rtlCol="0" anchor="ctr"/>
          <a:lstStyle/>
          <a:p>
            <a:pPr algn="ctr">
              <a:defRPr sz="2600" b="1">
                <a:solidFill>
                  <a:srgbClr val="FFFFFF"/>
                </a:solidFill>
              </a:defRPr>
            </a:pPr>
            <a:r>
              <a:t>Step 4: Root Nameserver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" y="1055704"/>
            <a:ext cx="11978640" cy="4746592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182880"/>
            <a:ext cx="12191695" cy="502920"/>
          </a:xfrm>
          <a:prstGeom prst="rect">
            <a:avLst/>
          </a:prstGeom>
          <a:solidFill>
            <a:srgbClr val="00A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0" tIns="36576" rtlCol="0" anchor="ctr"/>
          <a:lstStyle/>
          <a:p>
            <a:pPr algn="ctr">
              <a:defRPr sz="2600" b="1">
                <a:solidFill>
                  <a:srgbClr val="FFFFFF"/>
                </a:solidFill>
              </a:defRPr>
            </a:pPr>
            <a:r>
              <a:t>Step 5: TLD Nameserver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05840"/>
            <a:ext cx="5943600" cy="1828800"/>
          </a:xfrm>
          <a:prstGeom prst="rect">
            <a:avLst/>
          </a:prstGeom>
          <a:noFill/>
        </p:spPr>
        <p:txBody>
          <a:bodyPr wrap="square" lIns="137160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BBBBBB"/>
                </a:solidFill>
              </a:defRPr>
            </a:pPr>
            <a:r>
              <a:t>The TLD server manages a specific TLD (.com, .org, .uk, etc.)</a:t>
            </a:r>
          </a:p>
          <a:p>
            <a:pPr>
              <a:spcAft>
                <a:spcPts val="600"/>
              </a:spcAft>
              <a:defRPr sz="1400">
                <a:solidFill>
                  <a:srgbClr val="BBBBBB"/>
                </a:solidFill>
              </a:defRPr>
            </a:pPr>
            <a:r>
              <a:t>Operated by domain registries (Verisign runs .com and .net)</a:t>
            </a:r>
          </a:p>
          <a:p>
            <a:pPr>
              <a:spcAft>
                <a:spcPts val="600"/>
              </a:spcAft>
              <a:defRPr sz="1400">
                <a:solidFill>
                  <a:srgbClr val="BBBBBB"/>
                </a:solidFill>
              </a:defRPr>
            </a:pPr>
            <a:r>
              <a:t>Does NOT have the IP — returns the authoritative nameserver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3840480"/>
            <a:ext cx="3566160" cy="1371600"/>
          </a:xfrm>
          <a:prstGeom prst="roundRect">
            <a:avLst/>
          </a:prstGeom>
          <a:solidFill>
            <a:srgbClr val="2A2A3E"/>
          </a:solidFill>
          <a:ln w="25400">
            <a:solidFill>
              <a:srgbClr val="4CAF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73152" rtlCol="0" anchor="ctr"/>
          <a:lstStyle/>
          <a:p>
            <a:pPr algn="ctr">
              <a:defRPr sz="1400" b="0">
                <a:solidFill>
                  <a:srgbClr val="BBBBBB"/>
                </a:solidFill>
              </a:defRPr>
            </a:pPr>
            <a:r>
              <a:t>gTLDs (Generic)</a:t>
            </a:r>
            <a:br/>
            <a:br/>
            <a:r>
              <a:t>.com  .org  .net  .info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389120" y="3840480"/>
            <a:ext cx="3566160" cy="1371600"/>
          </a:xfrm>
          <a:prstGeom prst="roundRect">
            <a:avLst/>
          </a:prstGeom>
          <a:solidFill>
            <a:srgbClr val="2A2A3E"/>
          </a:solidFill>
          <a:ln w="25400">
            <a:solidFill>
              <a:srgbClr val="FFD7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73152" rtlCol="0" anchor="ctr"/>
          <a:lstStyle/>
          <a:p>
            <a:pPr algn="ctr">
              <a:defRPr sz="1400" b="0">
                <a:solidFill>
                  <a:srgbClr val="BBBBBB"/>
                </a:solidFill>
              </a:defRPr>
            </a:pPr>
            <a:r>
              <a:t>ccTLDs (Country)</a:t>
            </a:r>
            <a:br/>
            <a:br/>
            <a:r>
              <a:t>.uk  .de  .jp  .in  .br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0" y="3840480"/>
            <a:ext cx="3566160" cy="1371600"/>
          </a:xfrm>
          <a:prstGeom prst="roundRect">
            <a:avLst/>
          </a:prstGeom>
          <a:solidFill>
            <a:srgbClr val="2A2A3E"/>
          </a:solidFill>
          <a:ln w="25400">
            <a:solidFill>
              <a:srgbClr val="00A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73152" rtlCol="0" anchor="ctr"/>
          <a:lstStyle/>
          <a:p>
            <a:pPr algn="ctr">
              <a:defRPr sz="1400" b="0">
                <a:solidFill>
                  <a:srgbClr val="BBBBBB"/>
                </a:solidFill>
              </a:defRPr>
            </a:pPr>
            <a:r>
              <a:t>New gTLDs</a:t>
            </a:r>
            <a:br/>
            <a:br/>
            <a:r>
              <a:t>.dev  .app  .blog  .io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0" y="1005840"/>
            <a:ext cx="5303520" cy="2286000"/>
          </a:xfrm>
          <a:prstGeom prst="roundRect">
            <a:avLst/>
          </a:prstGeom>
          <a:solidFill>
            <a:srgbClr val="2A2A3E"/>
          </a:solidFill>
          <a:ln w="25400">
            <a:solidFill>
              <a:srgbClr val="00A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73152" rtlCol="0" anchor="ctr"/>
          <a:lstStyle/>
          <a:p>
            <a:pPr algn="ctr">
              <a:defRPr sz="1500" b="1">
                <a:solidFill>
                  <a:srgbClr val="00A8E8"/>
                </a:solidFill>
              </a:defRPr>
            </a:pPr>
            <a:r>
              <a:t>Resolution Flow:</a:t>
            </a:r>
          </a:p>
          <a:p>
            <a:pPr>
              <a:spcBef>
                <a:spcPts val="200"/>
              </a:spcBef>
              <a:defRPr sz="1300">
                <a:solidFill>
                  <a:srgbClr val="FFFFFF"/>
                </a:solidFill>
              </a:defRPr>
            </a:pPr>
            <a:r>
              <a:t>Browser → OS → Resolver → Root → TLD → Authoritative</a:t>
            </a:r>
          </a:p>
          <a:p>
            <a:pPr>
              <a:spcBef>
                <a:spcPts val="200"/>
              </a:spcBef>
              <a:defRPr sz="1300">
                <a:solidFill>
                  <a:srgbClr val="FFFFFF"/>
                </a:solidFill>
              </a:defRPr>
            </a:pPr>
            <a:endParaRPr/>
          </a:p>
          <a:p>
            <a:pPr>
              <a:spcBef>
                <a:spcPts val="200"/>
              </a:spcBef>
              <a:defRPr sz="1300">
                <a:solidFill>
                  <a:srgbClr val="FFFFFF"/>
                </a:solidFill>
              </a:defRPr>
            </a:pPr>
            <a:r>
              <a:t>After the root, the query goes to the TLD</a:t>
            </a:r>
          </a:p>
          <a:p>
            <a:pPr>
              <a:spcBef>
                <a:spcPts val="200"/>
              </a:spcBef>
              <a:defRPr sz="1300">
                <a:solidFill>
                  <a:srgbClr val="FFFFFF"/>
                </a:solidFill>
              </a:defRPr>
            </a:pPr>
            <a:r>
              <a:t>server which then points to the authoritative</a:t>
            </a:r>
          </a:p>
          <a:p>
            <a:pPr>
              <a:spcBef>
                <a:spcPts val="200"/>
              </a:spcBef>
              <a:defRPr sz="1300">
                <a:solidFill>
                  <a:srgbClr val="FFFFFF"/>
                </a:solidFill>
              </a:defRPr>
            </a:pPr>
            <a:r>
              <a:t>server that holds the actual DNS records.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182880"/>
            <a:ext cx="12191695" cy="502920"/>
          </a:xfrm>
          <a:prstGeom prst="rect">
            <a:avLst/>
          </a:prstGeom>
          <a:solidFill>
            <a:srgbClr val="00A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0" tIns="36576" rtlCol="0" anchor="ctr"/>
          <a:lstStyle/>
          <a:p>
            <a:pPr algn="ctr">
              <a:defRPr sz="2600" b="1">
                <a:solidFill>
                  <a:srgbClr val="FFFFFF"/>
                </a:solidFill>
              </a:defRPr>
            </a:pPr>
            <a:r>
              <a:t>Step 6: Authoritative Nameserver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05840"/>
            <a:ext cx="5943600" cy="2286000"/>
          </a:xfrm>
          <a:prstGeom prst="rect">
            <a:avLst/>
          </a:prstGeom>
          <a:noFill/>
        </p:spPr>
        <p:txBody>
          <a:bodyPr wrap="square" lIns="137160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BBBBBB"/>
                </a:solidFill>
              </a:defRPr>
            </a:pPr>
            <a:r>
              <a:t>The final stop — holds the actual DNS resource records</a:t>
            </a:r>
          </a:p>
          <a:p>
            <a:pPr>
              <a:spcAft>
                <a:spcPts val="600"/>
              </a:spcAft>
              <a:defRPr sz="1400">
                <a:solidFill>
                  <a:srgbClr val="BBBBBB"/>
                </a:solidFill>
              </a:defRPr>
            </a:pPr>
            <a:r>
              <a:t>Configured by the domain owner via a DNS hosting provider</a:t>
            </a:r>
          </a:p>
          <a:p>
            <a:pPr>
              <a:spcAft>
                <a:spcPts val="600"/>
              </a:spcAft>
              <a:defRPr sz="1400">
                <a:solidFill>
                  <a:srgbClr val="BBBBBB"/>
                </a:solidFill>
              </a:defRPr>
            </a:pPr>
            <a:r>
              <a:t>Returns the actual IP address (or the requested record type)</a:t>
            </a:r>
          </a:p>
          <a:p>
            <a:pPr>
              <a:spcAft>
                <a:spcPts val="600"/>
              </a:spcAft>
              <a:defRPr sz="1400">
                <a:solidFill>
                  <a:srgbClr val="BBBBBB"/>
                </a:solidFill>
              </a:defRPr>
            </a:pPr>
            <a:r>
              <a:t>Can be primary (master) or secondary (slave) for redundancy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0" y="1005840"/>
            <a:ext cx="5303520" cy="1828800"/>
          </a:xfrm>
          <a:prstGeom prst="roundRect">
            <a:avLst/>
          </a:prstGeom>
          <a:solidFill>
            <a:srgbClr val="2A2A3E"/>
          </a:solidFill>
          <a:ln w="25400">
            <a:solidFill>
              <a:srgbClr val="00A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73152" rtlCol="0" anchor="ctr"/>
          <a:lstStyle/>
          <a:p>
            <a:pPr algn="ctr">
              <a:defRPr sz="1500" b="1">
                <a:solidFill>
                  <a:srgbClr val="00A8E8"/>
                </a:solidFill>
              </a:defRPr>
            </a:pPr>
            <a:r>
              <a:t>Common DNS Providers:</a:t>
            </a:r>
          </a:p>
          <a:p>
            <a:pPr>
              <a:spcBef>
                <a:spcPts val="200"/>
              </a:spcBef>
              <a:defRPr sz="1300">
                <a:solidFill>
                  <a:srgbClr val="FFFFFF"/>
                </a:solidFill>
              </a:defRPr>
            </a:pPr>
            <a:r>
              <a:t>  Cloudflare DNS</a:t>
            </a:r>
          </a:p>
          <a:p>
            <a:pPr>
              <a:spcBef>
                <a:spcPts val="200"/>
              </a:spcBef>
              <a:defRPr sz="1300">
                <a:solidFill>
                  <a:srgbClr val="FFFFFF"/>
                </a:solidFill>
              </a:defRPr>
            </a:pPr>
            <a:r>
              <a:t>  AWS Route 53</a:t>
            </a:r>
          </a:p>
          <a:p>
            <a:pPr>
              <a:spcBef>
                <a:spcPts val="200"/>
              </a:spcBef>
              <a:defRPr sz="1300">
                <a:solidFill>
                  <a:srgbClr val="FFFFFF"/>
                </a:solidFill>
              </a:defRPr>
            </a:pPr>
            <a:r>
              <a:t>  Google Cloud DNS</a:t>
            </a:r>
          </a:p>
          <a:p>
            <a:pPr>
              <a:spcBef>
                <a:spcPts val="200"/>
              </a:spcBef>
              <a:defRPr sz="1300">
                <a:solidFill>
                  <a:srgbClr val="FFFFFF"/>
                </a:solidFill>
              </a:defRPr>
            </a:pPr>
            <a:r>
              <a:t>  Azure DNS</a:t>
            </a:r>
          </a:p>
          <a:p>
            <a:pPr>
              <a:spcBef>
                <a:spcPts val="200"/>
              </a:spcBef>
              <a:defRPr sz="1300">
                <a:solidFill>
                  <a:srgbClr val="FFFFFF"/>
                </a:solidFill>
              </a:defRPr>
            </a:pPr>
            <a:r>
              <a:t>  Namecheap</a:t>
            </a:r>
          </a:p>
          <a:p>
            <a:pPr>
              <a:spcBef>
                <a:spcPts val="200"/>
              </a:spcBef>
              <a:defRPr sz="1300">
                <a:solidFill>
                  <a:srgbClr val="FFFFFF"/>
                </a:solidFill>
              </a:defRPr>
            </a:pPr>
            <a:r>
              <a:t>  GoDaddy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4114800"/>
            <a:ext cx="11064240" cy="2011680"/>
          </a:xfrm>
          <a:prstGeom prst="roundRect">
            <a:avLst/>
          </a:prstGeom>
          <a:solidFill>
            <a:srgbClr val="2A2A3E"/>
          </a:solidFill>
          <a:ln w="25400">
            <a:solidFill>
              <a:srgbClr val="4CAF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73152" rtlCol="0" anchor="ctr"/>
          <a:lstStyle/>
          <a:p>
            <a:pPr algn="ctr">
              <a:defRPr sz="1500" b="1">
                <a:solidFill>
                  <a:srgbClr val="4CAF50"/>
                </a:solidFill>
              </a:defRPr>
            </a:pPr>
            <a:r>
              <a:t>After the Authoritative Server Responds:</a:t>
            </a:r>
          </a:p>
          <a:p>
            <a:pPr>
              <a:spcBef>
                <a:spcPts val="300"/>
              </a:spcBef>
              <a:defRPr sz="1300">
                <a:solidFill>
                  <a:srgbClr val="FFFFFF"/>
                </a:solidFill>
              </a:defRPr>
            </a:pPr>
            <a:r>
              <a:t>1. The recursive resolver caches the response (respecting the TTL)</a:t>
            </a:r>
          </a:p>
          <a:p>
            <a:pPr>
              <a:spcBef>
                <a:spcPts val="300"/>
              </a:spcBef>
              <a:defRPr sz="1300">
                <a:solidFill>
                  <a:srgbClr val="FFFFFF"/>
                </a:solidFill>
              </a:defRPr>
            </a:pPr>
            <a:r>
              <a:t>2. The resolver returns the IP address to your browser</a:t>
            </a:r>
          </a:p>
          <a:p>
            <a:pPr>
              <a:spcBef>
                <a:spcPts val="300"/>
              </a:spcBef>
              <a:defRPr sz="1300">
                <a:solidFill>
                  <a:srgbClr val="FFFFFF"/>
                </a:solidFill>
              </a:defRPr>
            </a:pPr>
            <a:r>
              <a:t>3. Your browser opens a TCP connection to that IP address</a:t>
            </a:r>
          </a:p>
          <a:p>
            <a:pPr>
              <a:spcBef>
                <a:spcPts val="300"/>
              </a:spcBef>
              <a:defRPr sz="1300">
                <a:solidFill>
                  <a:srgbClr val="FFFFFF"/>
                </a:solidFill>
              </a:defRPr>
            </a:pPr>
            <a:r>
              <a:t>4. The page loads — all within milliseconds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182880"/>
            <a:ext cx="12191695" cy="502920"/>
          </a:xfrm>
          <a:prstGeom prst="rect">
            <a:avLst/>
          </a:prstGeom>
          <a:solidFill>
            <a:srgbClr val="00A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0" tIns="36576" rtlCol="0" anchor="ctr"/>
          <a:lstStyle/>
          <a:p>
            <a:pPr algn="ctr">
              <a:defRPr sz="2600" b="1">
                <a:solidFill>
                  <a:srgbClr val="FFFFFF"/>
                </a:solidFill>
              </a:defRPr>
            </a:pPr>
            <a:r>
              <a:t>Recursive vs Iterative Query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" y="822960"/>
            <a:ext cx="11978640" cy="4719674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182880"/>
            <a:ext cx="12191695" cy="502920"/>
          </a:xfrm>
          <a:prstGeom prst="rect">
            <a:avLst/>
          </a:prstGeom>
          <a:solidFill>
            <a:srgbClr val="00A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0" tIns="36576" rtlCol="0" anchor="ctr"/>
          <a:lstStyle/>
          <a:p>
            <a:pPr algn="ctr">
              <a:defRPr sz="2600" b="1">
                <a:solidFill>
                  <a:srgbClr val="FFFFFF"/>
                </a:solidFill>
              </a:defRPr>
            </a:pPr>
            <a:r>
              <a:t>Common DNS Record Types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365760" y="1097280"/>
            <a:ext cx="5577840" cy="822960"/>
          </a:xfrm>
          <a:prstGeom prst="roundRect">
            <a:avLst/>
          </a:prstGeom>
          <a:solidFill>
            <a:srgbClr val="2A2A3E"/>
          </a:solidFill>
          <a:ln w="25400">
            <a:solidFill>
              <a:srgbClr val="00A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73152" rtlCol="0" anchor="ctr"/>
          <a:lstStyle/>
          <a:p>
            <a:pPr algn="ctr">
              <a:defRPr sz="1500" b="1">
                <a:solidFill>
                  <a:srgbClr val="00A8E8"/>
                </a:solidFill>
              </a:defRPr>
            </a:pPr>
            <a:r>
              <a:t>A  —  IPv4 address</a:t>
            </a:r>
          </a:p>
          <a:p>
            <a:pPr>
              <a:defRPr sz="1200">
                <a:solidFill>
                  <a:srgbClr val="BBBBBB"/>
                </a:solidFill>
              </a:defRPr>
            </a:pPr>
            <a:r>
              <a:t>Example: 192.0.2.1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217920" y="1097280"/>
            <a:ext cx="5577840" cy="822960"/>
          </a:xfrm>
          <a:prstGeom prst="roundRect">
            <a:avLst/>
          </a:prstGeom>
          <a:solidFill>
            <a:srgbClr val="2A2A3E"/>
          </a:solidFill>
          <a:ln w="25400">
            <a:solidFill>
              <a:srgbClr val="00A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73152" rtlCol="0" anchor="ctr"/>
          <a:lstStyle/>
          <a:p>
            <a:pPr algn="ctr">
              <a:defRPr sz="1500" b="1">
                <a:solidFill>
                  <a:srgbClr val="00A8E8"/>
                </a:solidFill>
              </a:defRPr>
            </a:pPr>
            <a:r>
              <a:t>AAAA  —  IPv6 address</a:t>
            </a:r>
          </a:p>
          <a:p>
            <a:pPr>
              <a:defRPr sz="1200">
                <a:solidFill>
                  <a:srgbClr val="BBBBBB"/>
                </a:solidFill>
              </a:defRPr>
            </a:pPr>
            <a:r>
              <a:t>Example: 2001:db8::1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" y="2103120"/>
            <a:ext cx="5577840" cy="822960"/>
          </a:xfrm>
          <a:prstGeom prst="roundRect">
            <a:avLst/>
          </a:prstGeom>
          <a:solidFill>
            <a:srgbClr val="2A2A3E"/>
          </a:solidFill>
          <a:ln w="25400">
            <a:solidFill>
              <a:srgbClr val="FFD7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73152" rtlCol="0" anchor="ctr"/>
          <a:lstStyle/>
          <a:p>
            <a:pPr algn="ctr">
              <a:defRPr sz="1500" b="1">
                <a:solidFill>
                  <a:srgbClr val="FFD700"/>
                </a:solidFill>
              </a:defRPr>
            </a:pPr>
            <a:r>
              <a:t>CNAME  —  Canonical name (alias)</a:t>
            </a:r>
          </a:p>
          <a:p>
            <a:pPr>
              <a:defRPr sz="1200">
                <a:solidFill>
                  <a:srgbClr val="BBBBBB"/>
                </a:solidFill>
              </a:defRPr>
            </a:pPr>
            <a:r>
              <a:t>Example: www → example.com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2103120"/>
            <a:ext cx="5577840" cy="822960"/>
          </a:xfrm>
          <a:prstGeom prst="roundRect">
            <a:avLst/>
          </a:prstGeom>
          <a:solidFill>
            <a:srgbClr val="2A2A3E"/>
          </a:solidFill>
          <a:ln w="25400">
            <a:solidFill>
              <a:srgbClr val="FFD7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73152" rtlCol="0" anchor="ctr"/>
          <a:lstStyle/>
          <a:p>
            <a:pPr algn="ctr">
              <a:defRPr sz="1500" b="1">
                <a:solidFill>
                  <a:srgbClr val="FFD700"/>
                </a:solidFill>
              </a:defRPr>
            </a:pPr>
            <a:r>
              <a:t>MX  —  Mail exchange</a:t>
            </a:r>
          </a:p>
          <a:p>
            <a:pPr>
              <a:defRPr sz="1200">
                <a:solidFill>
                  <a:srgbClr val="BBBBBB"/>
                </a:solidFill>
              </a:defRPr>
            </a:pPr>
            <a:r>
              <a:t>Example: mail.example.com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5760" y="3108960"/>
            <a:ext cx="5577840" cy="822960"/>
          </a:xfrm>
          <a:prstGeom prst="roundRect">
            <a:avLst/>
          </a:prstGeom>
          <a:solidFill>
            <a:srgbClr val="2A2A3E"/>
          </a:solidFill>
          <a:ln w="25400">
            <a:solidFill>
              <a:srgbClr val="FF9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73152" rtlCol="0" anchor="ctr"/>
          <a:lstStyle/>
          <a:p>
            <a:pPr algn="ctr">
              <a:defRPr sz="1500" b="1">
                <a:solidFill>
                  <a:srgbClr val="FF9800"/>
                </a:solidFill>
              </a:defRPr>
            </a:pPr>
            <a:r>
              <a:t>TXT  —  Text / SPF / DKIM</a:t>
            </a:r>
          </a:p>
          <a:p>
            <a:pPr>
              <a:defRPr sz="1200">
                <a:solidFill>
                  <a:srgbClr val="BBBBBB"/>
                </a:solidFill>
              </a:defRPr>
            </a:pPr>
            <a:r>
              <a:t>Example: v=spf1 include:_spf.google.com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3108960"/>
            <a:ext cx="5577840" cy="822960"/>
          </a:xfrm>
          <a:prstGeom prst="roundRect">
            <a:avLst/>
          </a:prstGeom>
          <a:solidFill>
            <a:srgbClr val="2A2A3E"/>
          </a:solidFill>
          <a:ln w="25400">
            <a:solidFill>
              <a:srgbClr val="FF9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73152" rtlCol="0" anchor="ctr"/>
          <a:lstStyle/>
          <a:p>
            <a:pPr algn="ctr">
              <a:defRPr sz="1500" b="1">
                <a:solidFill>
                  <a:srgbClr val="FF9800"/>
                </a:solidFill>
              </a:defRPr>
            </a:pPr>
            <a:r>
              <a:t>NS  —  Nameserver</a:t>
            </a:r>
          </a:p>
          <a:p>
            <a:pPr>
              <a:defRPr sz="1200">
                <a:solidFill>
                  <a:srgbClr val="BBBBBB"/>
                </a:solidFill>
              </a:defRPr>
            </a:pPr>
            <a:r>
              <a:t>Example: ns1.example.com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65760" y="4114800"/>
            <a:ext cx="5577840" cy="822960"/>
          </a:xfrm>
          <a:prstGeom prst="roundRect">
            <a:avLst/>
          </a:prstGeom>
          <a:solidFill>
            <a:srgbClr val="2A2A3E"/>
          </a:solidFill>
          <a:ln w="25400">
            <a:solidFill>
              <a:srgbClr val="4CAF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73152" rtlCol="0" anchor="ctr"/>
          <a:lstStyle/>
          <a:p>
            <a:pPr algn="ctr">
              <a:defRPr sz="1500" b="1">
                <a:solidFill>
                  <a:srgbClr val="4CAF50"/>
                </a:solidFill>
              </a:defRPr>
            </a:pPr>
            <a:r>
              <a:t>SRV  —  Service location</a:t>
            </a:r>
          </a:p>
          <a:p>
            <a:pPr>
              <a:defRPr sz="1200">
                <a:solidFill>
                  <a:srgbClr val="BBBBBB"/>
                </a:solidFill>
              </a:defRPr>
            </a:pPr>
            <a:r>
              <a:t>Example: _sip._tcp.example.com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4114800"/>
            <a:ext cx="5577840" cy="822960"/>
          </a:xfrm>
          <a:prstGeom prst="roundRect">
            <a:avLst/>
          </a:prstGeom>
          <a:solidFill>
            <a:srgbClr val="2A2A3E"/>
          </a:solidFill>
          <a:ln w="25400">
            <a:solidFill>
              <a:srgbClr val="4CAF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73152" rtlCol="0" anchor="ctr"/>
          <a:lstStyle/>
          <a:p>
            <a:pPr algn="ctr">
              <a:defRPr sz="1500" b="1">
                <a:solidFill>
                  <a:srgbClr val="4CAF50"/>
                </a:solidFill>
              </a:defRPr>
            </a:pPr>
            <a:r>
              <a:t>SOA  —  Start of Authority</a:t>
            </a:r>
          </a:p>
          <a:p>
            <a:pPr>
              <a:defRPr sz="1200">
                <a:solidFill>
                  <a:srgbClr val="BBBBBB"/>
                </a:solidFill>
              </a:defRPr>
            </a:pPr>
            <a:r>
              <a:t>Example: Primary NS, refresh, retry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182880"/>
            <a:ext cx="12191695" cy="502920"/>
          </a:xfrm>
          <a:prstGeom prst="rect">
            <a:avLst/>
          </a:prstGeom>
          <a:solidFill>
            <a:srgbClr val="00A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0" tIns="36576" rtlCol="0" anchor="ctr"/>
          <a:lstStyle/>
          <a:p>
            <a:pPr algn="ctr">
              <a:defRPr sz="2600" b="1">
                <a:solidFill>
                  <a:srgbClr val="FFFFFF"/>
                </a:solidFill>
              </a:defRPr>
            </a:pPr>
            <a:r>
              <a:t>DNS Caching Hierarchy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" y="822960"/>
            <a:ext cx="11978640" cy="4800428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182880"/>
            <a:ext cx="12191695" cy="502920"/>
          </a:xfrm>
          <a:prstGeom prst="rect">
            <a:avLst/>
          </a:prstGeom>
          <a:solidFill>
            <a:srgbClr val="00A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0" tIns="36576" rtlCol="0" anchor="ctr"/>
          <a:lstStyle/>
          <a:p>
            <a:pPr algn="ctr">
              <a:defRPr sz="2600" b="1">
                <a:solidFill>
                  <a:srgbClr val="FFFFFF"/>
                </a:solidFill>
              </a:defRPr>
            </a:pPr>
            <a:r>
              <a:t>DNS Troubleshooting Tools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365760" y="1097280"/>
            <a:ext cx="5577840" cy="1280160"/>
          </a:xfrm>
          <a:prstGeom prst="roundRect">
            <a:avLst/>
          </a:prstGeom>
          <a:solidFill>
            <a:srgbClr val="2A2A3E"/>
          </a:solidFill>
          <a:ln w="25400">
            <a:solidFill>
              <a:srgbClr val="00A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73152" rtlCol="0" anchor="ctr"/>
          <a:lstStyle/>
          <a:p>
            <a:pPr algn="ctr">
              <a:defRPr sz="2200" b="1">
                <a:solidFill>
                  <a:srgbClr val="00A8E8"/>
                </a:solidFill>
              </a:defRPr>
            </a:pPr>
            <a:r>
              <a:t>nslookup</a:t>
            </a:r>
          </a:p>
          <a:p>
            <a:pPr>
              <a:defRPr sz="1300">
                <a:solidFill>
                  <a:srgbClr val="BBBBBB"/>
                </a:solidFill>
              </a:defRPr>
            </a:pPr>
            <a:r>
              <a:t>Query DNS interactively or inline</a:t>
            </a:r>
          </a:p>
          <a:p>
            <a:pPr>
              <a:defRPr sz="1200">
                <a:solidFill>
                  <a:srgbClr val="4CAF50"/>
                </a:solidFill>
              </a:defRPr>
            </a:pPr>
            <a:r>
              <a:t>$ nslookup example.com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217920" y="1097280"/>
            <a:ext cx="5577840" cy="1280160"/>
          </a:xfrm>
          <a:prstGeom prst="roundRect">
            <a:avLst/>
          </a:prstGeom>
          <a:solidFill>
            <a:srgbClr val="2A2A3E"/>
          </a:solidFill>
          <a:ln w="25400">
            <a:solidFill>
              <a:srgbClr val="00A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73152" rtlCol="0" anchor="ctr"/>
          <a:lstStyle/>
          <a:p>
            <a:pPr algn="ctr">
              <a:defRPr sz="2200" b="1">
                <a:solidFill>
                  <a:srgbClr val="00A8E8"/>
                </a:solidFill>
              </a:defRPr>
            </a:pPr>
            <a:r>
              <a:t>dig</a:t>
            </a:r>
          </a:p>
          <a:p>
            <a:pPr>
              <a:defRPr sz="1300">
                <a:solidFill>
                  <a:srgbClr val="BBBBBB"/>
                </a:solidFill>
              </a:defRPr>
            </a:pPr>
            <a:r>
              <a:t>Detailed query with full output</a:t>
            </a:r>
          </a:p>
          <a:p>
            <a:pPr>
              <a:defRPr sz="1200">
                <a:solidFill>
                  <a:srgbClr val="4CAF50"/>
                </a:solidFill>
              </a:defRPr>
            </a:pPr>
            <a:r>
              <a:t>$ dig example.com A +trace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" y="2651760"/>
            <a:ext cx="5577840" cy="1280160"/>
          </a:xfrm>
          <a:prstGeom prst="roundRect">
            <a:avLst/>
          </a:prstGeom>
          <a:solidFill>
            <a:srgbClr val="2A2A3E"/>
          </a:solidFill>
          <a:ln w="25400">
            <a:solidFill>
              <a:srgbClr val="4CAF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73152" rtlCol="0" anchor="ctr"/>
          <a:lstStyle/>
          <a:p>
            <a:pPr algn="ctr">
              <a:defRPr sz="2200" b="1">
                <a:solidFill>
                  <a:srgbClr val="4CAF50"/>
                </a:solidFill>
              </a:defRPr>
            </a:pPr>
            <a:r>
              <a:t>ping</a:t>
            </a:r>
          </a:p>
          <a:p>
            <a:pPr>
              <a:defRPr sz="1300">
                <a:solidFill>
                  <a:srgbClr val="BBBBBB"/>
                </a:solidFill>
              </a:defRPr>
            </a:pPr>
            <a:r>
              <a:t>Test reachability (resolves DNS)</a:t>
            </a:r>
          </a:p>
          <a:p>
            <a:pPr>
              <a:defRPr sz="1200">
                <a:solidFill>
                  <a:srgbClr val="4CAF50"/>
                </a:solidFill>
              </a:defRPr>
            </a:pPr>
            <a:r>
              <a:t>$ ping google.com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2651760"/>
            <a:ext cx="5577840" cy="1280160"/>
          </a:xfrm>
          <a:prstGeom prst="roundRect">
            <a:avLst/>
          </a:prstGeom>
          <a:solidFill>
            <a:srgbClr val="2A2A3E"/>
          </a:solidFill>
          <a:ln w="25400">
            <a:solidFill>
              <a:srgbClr val="4CAF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73152" rtlCol="0" anchor="ctr"/>
          <a:lstStyle/>
          <a:p>
            <a:pPr algn="ctr">
              <a:defRPr sz="2200" b="1">
                <a:solidFill>
                  <a:srgbClr val="4CAF50"/>
                </a:solidFill>
              </a:defRPr>
            </a:pPr>
            <a:r>
              <a:t>tracert</a:t>
            </a:r>
          </a:p>
          <a:p>
            <a:pPr>
              <a:defRPr sz="1300">
                <a:solidFill>
                  <a:srgbClr val="BBBBBB"/>
                </a:solidFill>
              </a:defRPr>
            </a:pPr>
            <a:r>
              <a:t>Trace network path to destination</a:t>
            </a:r>
          </a:p>
          <a:p>
            <a:pPr>
              <a:defRPr sz="1200">
                <a:solidFill>
                  <a:srgbClr val="4CAF50"/>
                </a:solidFill>
              </a:defRPr>
            </a:pPr>
            <a:r>
              <a:t>$ tracert google.com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5760" y="4206240"/>
            <a:ext cx="5577840" cy="1280160"/>
          </a:xfrm>
          <a:prstGeom prst="roundRect">
            <a:avLst/>
          </a:prstGeom>
          <a:solidFill>
            <a:srgbClr val="2A2A3E"/>
          </a:solidFill>
          <a:ln w="25400">
            <a:solidFill>
              <a:srgbClr val="FFD7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73152" rtlCol="0" anchor="ctr"/>
          <a:lstStyle/>
          <a:p>
            <a:pPr algn="ctr">
              <a:defRPr sz="2200" b="1">
                <a:solidFill>
                  <a:srgbClr val="FFD700"/>
                </a:solidFill>
              </a:defRPr>
            </a:pPr>
            <a:r>
              <a:t>ipconfig</a:t>
            </a:r>
          </a:p>
          <a:p>
            <a:pPr>
              <a:defRPr sz="1300">
                <a:solidFill>
                  <a:srgbClr val="BBBBBB"/>
                </a:solidFill>
              </a:defRPr>
            </a:pPr>
            <a:r>
              <a:t>Flush OS DNS cache (Windows)</a:t>
            </a:r>
          </a:p>
          <a:p>
            <a:pPr>
              <a:defRPr sz="1200">
                <a:solidFill>
                  <a:srgbClr val="4CAF50"/>
                </a:solidFill>
              </a:defRPr>
            </a:pPr>
            <a:r>
              <a:t>$ ipconfig /flushdns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4206240"/>
            <a:ext cx="5577840" cy="1280160"/>
          </a:xfrm>
          <a:prstGeom prst="roundRect">
            <a:avLst/>
          </a:prstGeom>
          <a:solidFill>
            <a:srgbClr val="2A2A3E"/>
          </a:solidFill>
          <a:ln w="25400">
            <a:solidFill>
              <a:srgbClr val="FFD7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73152" rtlCol="0" anchor="ctr"/>
          <a:lstStyle/>
          <a:p>
            <a:pPr algn="ctr">
              <a:defRPr sz="2200" b="1">
                <a:solidFill>
                  <a:srgbClr val="FFD700"/>
                </a:solidFill>
              </a:defRPr>
            </a:pPr>
            <a:r>
              <a:t>systemd</a:t>
            </a:r>
          </a:p>
          <a:p>
            <a:pPr>
              <a:defRPr sz="1300">
                <a:solidFill>
                  <a:srgbClr val="BBBBBB"/>
                </a:solidFill>
              </a:defRPr>
            </a:pPr>
            <a:r>
              <a:t>Query Linux systemd-resolved</a:t>
            </a:r>
          </a:p>
          <a:p>
            <a:pPr>
              <a:defRPr sz="1200">
                <a:solidFill>
                  <a:srgbClr val="4CAF50"/>
                </a:solidFill>
              </a:defRPr>
            </a:pPr>
            <a:r>
              <a:t>$ systemd-resolve --status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182880"/>
            <a:ext cx="12191695" cy="502920"/>
          </a:xfrm>
          <a:prstGeom prst="rect">
            <a:avLst/>
          </a:prstGeom>
          <a:solidFill>
            <a:srgbClr val="00A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0" tIns="36576" rtlCol="0" anchor="ctr"/>
          <a:lstStyle/>
          <a:p>
            <a:pPr algn="ctr">
              <a:defRPr sz="2600" b="1">
                <a:solidFill>
                  <a:srgbClr val="FFFFFF"/>
                </a:solidFill>
              </a:defRPr>
            </a:pPr>
            <a:r>
              <a:t>Key Takeaways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0972800" cy="5029200"/>
          </a:xfrm>
          <a:prstGeom prst="rect">
            <a:avLst/>
          </a:prstGeom>
          <a:noFill/>
        </p:spPr>
        <p:txBody>
          <a:bodyPr wrap="square" lIns="137160">
            <a:spAutoFit/>
          </a:bodyPr>
          <a:lstStyle/>
          <a:p>
            <a:pPr>
              <a:spcAft>
                <a:spcPts val="900"/>
              </a:spcAft>
              <a:defRPr sz="1500">
                <a:solidFill>
                  <a:srgbClr val="BBBBBB"/>
                </a:solidFill>
              </a:defRPr>
            </a:pPr>
            <a:r>
              <a:t>DNS translates human-friendly domain names into machine-readable IP addresses</a:t>
            </a:r>
          </a:p>
          <a:p>
            <a:pPr>
              <a:spcAft>
                <a:spcPts val="900"/>
              </a:spcAft>
              <a:defRPr sz="1500">
                <a:solidFill>
                  <a:srgbClr val="BBBBBB"/>
                </a:solidFill>
              </a:defRPr>
            </a:pPr>
            <a:r>
              <a:t>Resolution follows a strict 6-step hierarchy: cache → OS → resolver → root → TLD → authoritative</a:t>
            </a:r>
          </a:p>
          <a:p>
            <a:pPr>
              <a:spcAft>
                <a:spcPts val="900"/>
              </a:spcAft>
              <a:defRPr sz="1500">
                <a:solidFill>
                  <a:srgbClr val="BBBBBB"/>
                </a:solidFill>
              </a:defRPr>
            </a:pPr>
            <a:r>
              <a:t>Caching occurs at every level, dramatically reducing lookup latency</a:t>
            </a:r>
          </a:p>
          <a:p>
            <a:pPr>
              <a:spcAft>
                <a:spcPts val="900"/>
              </a:spcAft>
              <a:defRPr sz="1500">
                <a:solidFill>
                  <a:srgbClr val="BBBBBB"/>
                </a:solidFill>
              </a:defRPr>
            </a:pPr>
            <a:r>
              <a:t>TTL (Time-To-Live) values control how long records are cached at each level</a:t>
            </a:r>
          </a:p>
          <a:p>
            <a:pPr>
              <a:spcAft>
                <a:spcPts val="900"/>
              </a:spcAft>
              <a:defRPr sz="1500">
                <a:solidFill>
                  <a:srgbClr val="BBBBBB"/>
                </a:solidFill>
              </a:defRPr>
            </a:pPr>
            <a:r>
              <a:t>Recursive resolvers do the work for you; iterative queries chain referrals</a:t>
            </a:r>
          </a:p>
          <a:p>
            <a:pPr>
              <a:spcAft>
                <a:spcPts val="900"/>
              </a:spcAft>
              <a:defRPr sz="1500">
                <a:solidFill>
                  <a:srgbClr val="BBBBBB"/>
                </a:solidFill>
              </a:defRPr>
            </a:pPr>
            <a:r>
              <a:t>DNSSEC, DNS-over-HTTPS (DoH), and DNS-over-TLS (DoT) improve security and privacy</a:t>
            </a:r>
          </a:p>
          <a:p>
            <a:pPr>
              <a:spcAft>
                <a:spcPts val="900"/>
              </a:spcAft>
              <a:defRPr sz="1500">
                <a:solidFill>
                  <a:srgbClr val="BBBBBB"/>
                </a:solidFill>
              </a:defRPr>
            </a:pPr>
            <a:r>
              <a:t>Tools like dig, nslookup, and ping help diagnose DNS resolution issues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621792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00A8E8"/>
                </a:solidFill>
              </a:defRPr>
            </a:pPr>
            <a:r>
              <a:t>DNS Resolution — How the Internet Finds Its Way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1038</Words>
  <Application>Microsoft Office PowerPoint</Application>
  <PresentationFormat>Widescreen</PresentationFormat>
  <Paragraphs>140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MOZ PC</cp:lastModifiedBy>
  <cp:revision>3</cp:revision>
  <dcterms:created xsi:type="dcterms:W3CDTF">2013-01-27T09:14:16Z</dcterms:created>
  <dcterms:modified xsi:type="dcterms:W3CDTF">2026-06-25T09:24:52Z</dcterms:modified>
  <cp:category/>
</cp:coreProperties>
</file>